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39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 u="sng">
                <a:solidFill>
                  <a:srgbClr val="FFFFFF"/>
                </a:solidFill>
                <a:latin typeface="Arial"/>
              </a:defRPr>
            </a:pPr>
            <a:r>
              <a:t>AAAL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1051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1C1C1C"/>
                </a:solidFill>
                <a:latin typeface="Arial"/>
              </a:defRPr>
            </a:pPr>
            <a:r>
              <a:t>Translanguaging as Mediational Architecture</a:t>
            </a:r>
          </a:p>
          <a:p>
            <a:pPr>
              <a:spcAft>
                <a:spcPts val="2800"/>
              </a:spcAft>
              <a:defRPr sz="2200" b="0">
                <a:solidFill>
                  <a:srgbClr val="5C5C5C"/>
                </a:solidFill>
                <a:latin typeface="Arial"/>
              </a:defRPr>
            </a:pPr>
            <a:r>
              <a:t>Reconceptualizing negotiation, reflection, and interactional competence in CSL peer interaction</a:t>
            </a:r>
          </a:p>
          <a:p>
            <a:pPr>
              <a:spcAft>
                <a:spcPts val="800"/>
              </a:spcAft>
              <a:defRPr sz="2000" b="0">
                <a:solidFill>
                  <a:srgbClr val="5C5C5C"/>
                </a:solidFill>
                <a:latin typeface="Arial"/>
              </a:defRPr>
            </a:pPr>
            <a:r>
              <a:t>Gracie Jiaxin Shen · University of Massachusetts Amherst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9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puzzle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Research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NoM→LRE rate drops at novice-high (20.2%) then rises at intermediate (79.2%).</a:t>
            </a:r>
          </a:p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MICM: translanguaging as primary mediational architecture—revision of IH automaticity assumption. Evidence: 11 learners, 21 episodes.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The assumption we revise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Long (1996): negotiation → optimal SLA. Assumption: negotiation and metalinguistic reflection linked by an automatic mechanism in the target language.</a:t>
            </a:r>
          </a:p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Data: Lexical Explanation → LRE 100% (C126) vs 14.3% (C246). Mechanism depends on translanguaging.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7200" b="1">
                <a:solidFill>
                  <a:srgbClr val="0D5C5C"/>
                </a:solidFill>
                <a:latin typeface="Arial"/>
              </a:defRPr>
            </a:pPr>
            <a:r>
              <a:t>100%  →  14.3%</a:t>
            </a:r>
          </a:p>
          <a:p>
            <a:pPr algn="ctr">
              <a:spcBef>
                <a:spcPts val="1200"/>
              </a:spcBef>
              <a:spcAft>
                <a:spcPts val="0"/>
              </a:spcAft>
              <a:defRPr sz="2400" b="0">
                <a:solidFill>
                  <a:srgbClr val="5C5C5C"/>
                </a:solidFill>
                <a:latin typeface="Arial"/>
              </a:defRPr>
            </a:pPr>
            <a:r>
              <a:t>Lexical Explanation → LRE · C126 vs C246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MICM central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Translanguaging = primary mediational architecture: converts communicative uncertainty into metalinguistic reflection.</a:t>
            </a:r>
          </a:p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In CSL, metalinguistic Chinese is insufficient for that precision; cross-linguistic resources provide the medium. (Hypothesis for exploratory scale.)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9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Theory &amp; literature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Interaction Hypothesis under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Long (1996): negotiation → modified input, pushed output, noticing. Assumption: optimal in target-language-only (challenged but not reformulated).</a:t>
            </a:r>
          </a:p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MICM: translanguaging is the mechanism that converts—or does not convert—negotiation into metalinguistic reflection. Revision, not extension.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LREs &amp; translanguaging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LREs: CSL expansion → tonal (pitch contour → meaning), orthographic (radical semantics).</a:t>
            </a:r>
          </a:p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Translanguaging (García &amp; Wei 2014; Li Wei 2018): MICM repositions as independent mediational variable.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MICM Claim 1: Mediational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Scaffolding = temporary support; mediational architecture (Vygotsky) = function organized through the resource. Example: 又 sounds better — precision unavailable in 对/不对.</a:t>
            </a:r>
          </a:p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Skehan (1998) trade-off: at novice-high, TL predominantly functional → bottleneck.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MICM Claims 2 &amp;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4980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21792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Claim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Summary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Claim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Capacity to deploy translanguaging metalinguistically may be integral to IC in typologically distant L2 contexts—constitutively multilingual (hypothesis)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Claim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Non-linear pattern: novice-high L2 expansion → TL predominantly functional → bottleneck. Resolves at intermediate (79.2%)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9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Method &amp; results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Context &amp; participants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498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371600"/>
                <a:gridCol w="228600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Course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Episodes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CHN 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Novice-low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CHN 246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Novice-high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CHN 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Intermediate-low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11 undergrads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Tasks &amp; coding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498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66928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Operationalization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Information-gap, decision-making, cultural discussion; ~10 h peer interaction, Jefferson transcription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NoM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Clarification requests, confirmation checks, help requests, self-correction, reformulations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LREs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Lexical, grammatical, phonological/tonal, orthographic (CSL-expanded)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Translanguaging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vs code-switching by functional + sequential criteria (κ = .85)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CSL-specific LRE type distributions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371600"/>
                <a:gridCol w="1371600"/>
                <a:gridCol w="82296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LRE type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C126 NL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C246 NH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C326 IL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Grammatical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 (22.2%)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 (5.6%)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25 (64.1%)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Lexical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7 (77.8%)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14 (77.8%)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12 (30.8%)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Phonological/Tonal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3 (16.7%)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 (5.1%)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NoM strategy distributions (χ²=26.67, p=.009)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680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C126 (n=86)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C246 (n=89)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C326 (n=53)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Question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17 (19.8%)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24 (27.0%)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22 (41.5%)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Confirmation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27 (31.4%)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15 (16.9%)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16 (30.2%)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Self-correction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17 (19.8%)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18 (20.2%)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8 (15.1%)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Lexical 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7 (8.1%)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14 (15.7%)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 (1.9%)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NoM→LRE transition rates (bottleneck)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2237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463040"/>
                <a:gridCol w="109728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NoM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LREs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NoM→LRE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C126 Novice-Low (9 ep.)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C246 Novice-High (6 ep.)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20.2% ↓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C326 Interm.-Low (6 ep.)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79.2% ↑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Bottleneck fingerprint: Lexical Explanation → LRE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4980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420624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C126 Novice-low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Every vocabulary provision triggered metalinguistic reflection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C246 Novice-high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14.3%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Vocabulary resolves gap; metalinguistic opportunity not taken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Qualitative: four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498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14400"/>
                <a:gridCol w="603504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Summary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C246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A: structural uncertainty (比…更好?); B topic-shifts. TL affective, not metalinguistic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C246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A: 很方便 (→ 更方便); B unremarked. Fossilization concern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C246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A: ‘or no the sun’ → 晴天; B provides 晴天. Functional TL; comparative error unremarked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C326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B: 又 sounds better. LRE with TL as metalinguistic medium; bottleneck resolution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9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Discussion &amp; implications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Revising the Interaction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More negotiation ≠ more metalinguistic development at C246. MICM: mechanism is translanguaging-mediated.</a:t>
            </a:r>
          </a:p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Multilingual Interaction Hypothesis: conditions under which Long’s account is most fully operative.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D5C5C"/>
                </a:solidFill>
                <a:latin typeface="Arial"/>
              </a:defRPr>
            </a:pPr>
            <a:r>
              <a:t>Fossilization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7772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C1C1C"/>
                </a:solidFill>
                <a:latin typeface="Arial"/>
              </a:defRPr>
            </a:pPr>
            <a:r>
              <a:t>Comparative errors (很方便→更方便; 比冬天很暖和→更暖和) missed at novice-high → fossilization candidates (Selinker 1972). Testable: longitudinal C246→C326.</a:t>
            </a:r>
          </a:p>
        </p:txBody>
      </p:sp>
    </p:spTree>
  </p:cSld>
  <p:clrMapOvr>
    <a:masterClrMapping/>
  </p:clrMapOvr>
  <p:transition spd="med">
    <p:fade thruBlk="0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Implications for pedagogy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4980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85216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Implication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Novice-high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Scaffold metalinguistic reflection (e.g. structured post-negotiation reflection phases)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Translanguaging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Legitimize functional TL at novice; cultivate metalinguistic TL at intermediate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Task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Sequence NoM-eliciting, LRE-eliciting, and translanguaging-eliciting tasks within units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D5C5C"/>
                </a:solidFill>
                <a:latin typeface="Arial"/>
              </a:defRPr>
            </a:pPr>
            <a:r>
              <a:t>Conclusion: three claims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74980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583680"/>
              </a:tblGrid>
              <a:tr h="38404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Claim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Summary</a:t>
                      </a:r>
                    </a:p>
                  </a:txBody>
                  <a:tcPr anchor="ctr">
                    <a:solidFill>
                      <a:srgbClr val="0D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Translanguaging as primary mediational architecture in these sequences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IC in typologically distant L2 may be constitutively multilingual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2200">
                          <a:solidFill>
                            <a:srgbClr val="1C1C1C"/>
                          </a:solidFill>
                          <a:latin typeface="Arial"/>
                        </a:defRPr>
                      </a:pPr>
                      <a:r>
                        <a:t>Development non-linear in a theoretically predicted way (bottleneck then resolution)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 thruBlk="0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spcAft>
                <a:spcPts val="8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Gracie Jiaxin Shen</a:t>
            </a:r>
          </a:p>
          <a:p>
            <a:pPr algn="ctr">
              <a:spcBef>
                <a:spcPts val="1000"/>
              </a:spcBef>
              <a:spcAft>
                <a:spcPts val="8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jiaxinshen1208@gmail.com</a:t>
            </a:r>
          </a:p>
          <a:p>
            <a:pPr algn="ctr">
              <a:spcBef>
                <a:spcPts val="1000"/>
              </a:spcBef>
              <a:spcAft>
                <a:spcPts val="8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University of Massachusetts Amherst</a:t>
            </a:r>
          </a:p>
        </p:txBody>
      </p:sp>
    </p:spTree>
  </p:cSld>
  <p:clrMapOvr>
    <a:masterClrMapping/>
  </p:clrMapOvr>
  <p:transition spd="med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